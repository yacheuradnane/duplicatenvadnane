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one page, one click, and a real place becomes a simulation environment for CARLA, Autoware and RoadRunner. The picture is a generated scene of the Massy stations, rendered from the output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comes out of one run. The key design choice: everything is built from the same OpenDRIVE network, so the car in CARLA and the Autoware planner see the same lanes.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Step 2 runs every download at once; step 3 uses CARLA's own OSM converter, then our fixes on top; step 5 writes every format from the same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source is free and needs no account. France gets the best data thanks to IGN's open data; elsewhere the generator falls back to OSM and AWS Terrain Tiles.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is the critical part. Each problem found in testing became a fix and a check: heights on every road type, traffic lights, split joints, bus lanes, lane changes. The checks run without Unreal.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ground type of each 4 m cell comes from the colour and infrared aerial photos, BD TOPO and OSM landuse. The transitions work in CARLA, RoadRunner and the preview alike, because they are baked into the mesh and textures.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5.7 km Briis-sous-Forges test has 7,464 trees and bushes, all at their real spots; 3,013 near the road use the detailed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RoadRunner R2026a with the Scene Builder add-on. Its own exports (CARLA FBX, Lanelet2, OpenDRIVE) work on the 56 km route now that the road joints match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 mode fetches OSM with polygon queries and picks the main road inside the zone for the spawn point and the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shows its own bar, time and detail line. The job updates at least every 2 s, so a frozen job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left runs without Unreal. The Unreal import and the Autoware drive are the next steps to test on this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79930"/>
            <a:ext cx="5232400" cy="27432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F29B5E"/>
                </a:solidFill>
                <a:latin typeface="IBM Plex Sans" pitchFamily="34" charset="0"/>
                <a:ea typeface="IBM Plex Sans" pitchFamily="34" charset="-122"/>
                <a:cs typeface="IBM Plex Sans" pitchFamily="34" charset="-120"/>
              </a:rPr>
              <a:t>DIGITAL TWIN GENERATOR</a:t>
            </a:r>
            <a:endParaRPr lang="en-US" sz="1400" dirty="0"/>
          </a:p>
        </p:txBody>
      </p:sp>
      <p:sp>
        <p:nvSpPr>
          <p:cNvPr id="3" name="Text 1"/>
          <p:cNvSpPr/>
          <p:nvPr/>
        </p:nvSpPr>
        <p:spPr>
          <a:xfrm>
            <a:off x="812800" y="2432050"/>
            <a:ext cx="523240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4F2EC"/>
                </a:solidFill>
                <a:latin typeface="Space Grotesk" pitchFamily="34" charset="0"/>
                <a:ea typeface="Space Grotesk" pitchFamily="34" charset="-122"/>
                <a:cs typeface="Space Grotesk" pitchFamily="34" charset="-120"/>
              </a:rPr>
              <a:t>duplicat_env</a:t>
            </a:r>
            <a:endParaRPr lang="en-US" sz="6000" dirty="0"/>
          </a:p>
        </p:txBody>
      </p:sp>
      <p:sp>
        <p:nvSpPr>
          <p:cNvPr id="4" name="Text 2"/>
          <p:cNvSpPr/>
          <p:nvPr/>
        </p:nvSpPr>
        <p:spPr>
          <a:xfrm>
            <a:off x="812800" y="3397250"/>
            <a:ext cx="5232400" cy="10541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D5DCE8"/>
                </a:solidFill>
                <a:latin typeface="IBM Plex Sans" pitchFamily="34" charset="0"/>
                <a:ea typeface="IBM Plex Sans" pitchFamily="34" charset="-122"/>
                <a:cs typeface="IBM Plex Sans" pitchFamily="34" charset="-120"/>
              </a:rPr>
              <a:t>Pick a real road or zone on a map. Get the same place in CARLA, Autoware and RoadRunner.</a:t>
            </a:r>
            <a:endParaRPr lang="en-US" sz="2000" dirty="0"/>
          </a:p>
        </p:txBody>
      </p:sp>
      <p:sp>
        <p:nvSpPr>
          <p:cNvPr id="5" name="Text 3"/>
          <p:cNvSpPr/>
          <p:nvPr/>
        </p:nvSpPr>
        <p:spPr>
          <a:xfrm>
            <a:off x="812800" y="4629150"/>
            <a:ext cx="52324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0C8"/>
                </a:solidFill>
                <a:latin typeface="IBM Plex Sans" pitchFamily="34" charset="0"/>
                <a:ea typeface="IBM Plex Sans" pitchFamily="34" charset="-122"/>
                <a:cs typeface="IBM Plex Sans" pitchFamily="34" charset="-120"/>
              </a:rPr>
              <a:t>Free and open data only · no API key</a:t>
            </a:r>
            <a:endParaRPr lang="en-US" sz="1400" dirty="0"/>
          </a:p>
        </p:txBody>
      </p:sp>
      <p:pic>
        <p:nvPicPr>
          <p:cNvPr id="6" name="Image 0" descr="Generated 3D scene of the Massy stations: roads, buildings, trees">    </p:cNvPr>
          <p:cNvPicPr>
            <a:picLocks noChangeAspect="1"/>
          </p:cNvPicPr>
          <p:nvPr/>
        </p:nvPicPr>
        <p:blipFill>
          <a:blip r:embed="rId1"/>
          <a:srcRect l="10625" r="10625" t="0" b="0"/>
          <a:stretch/>
        </p:blipFill>
        <p:spPr>
          <a:xfrm>
            <a:off x="6299200" y="1651000"/>
            <a:ext cx="4978400" cy="3556000"/>
          </a:xfrm>
          <a:prstGeom prst="roundRect">
            <a:avLst>
              <a:gd name="adj" fmla="val 2857"/>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14213D"/>
                </a:solidFill>
                <a:latin typeface="Space Grotesk" pitchFamily="34" charset="0"/>
                <a:ea typeface="Space Grotesk" pitchFamily="34" charset="-122"/>
                <a:cs typeface="Space Grotesk" pitchFamily="34" charset="-120"/>
              </a:rPr>
              <a:t>One click, three simulators</a:t>
            </a:r>
            <a:endParaRPr lang="en-US" sz="3600" dirty="0"/>
          </a:p>
        </p:txBody>
      </p:sp>
      <p:sp>
        <p:nvSpPr>
          <p:cNvPr id="3" name="Shape 1"/>
          <p:cNvSpPr/>
          <p:nvPr/>
        </p:nvSpPr>
        <p:spPr>
          <a:xfrm>
            <a:off x="815975" y="1697355"/>
            <a:ext cx="3380317" cy="2000250"/>
          </a:xfrm>
          <a:prstGeom prst="roundRect">
            <a:avLst>
              <a:gd name="adj" fmla="val 4921"/>
            </a:avLst>
          </a:prstGeom>
          <a:solidFill>
            <a:srgbClr val="FFFFFF"/>
          </a:solidFill>
          <a:ln w="6350">
            <a:solidFill>
              <a:srgbClr val="DAD6CC"/>
            </a:solidFill>
            <a:prstDash val="solid"/>
          </a:ln>
        </p:spPr>
      </p:sp>
      <p:sp>
        <p:nvSpPr>
          <p:cNvPr id="4" name="Text 2"/>
          <p:cNvSpPr/>
          <p:nvPr/>
        </p:nvSpPr>
        <p:spPr>
          <a:xfrm>
            <a:off x="1073150" y="1954530"/>
            <a:ext cx="2951946"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4500B"/>
                </a:solidFill>
                <a:latin typeface="IBM Plex Sans" pitchFamily="34" charset="0"/>
                <a:ea typeface="IBM Plex Sans" pitchFamily="34" charset="-122"/>
                <a:cs typeface="IBM Plex Sans" pitchFamily="34" charset="-120"/>
              </a:rPr>
              <a:t>CARLA</a:t>
            </a:r>
            <a:endParaRPr lang="en-US" sz="1300" dirty="0"/>
          </a:p>
        </p:txBody>
      </p:sp>
      <p:sp>
        <p:nvSpPr>
          <p:cNvPr id="5" name="Text 3"/>
          <p:cNvSpPr/>
          <p:nvPr/>
        </p:nvSpPr>
        <p:spPr>
          <a:xfrm>
            <a:off x="1073150" y="2287270"/>
            <a:ext cx="29519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FBX + OpenDRIVE</a:t>
            </a:r>
            <a:endParaRPr lang="en-US" sz="2000" dirty="0"/>
          </a:p>
        </p:txBody>
      </p:sp>
      <p:sp>
        <p:nvSpPr>
          <p:cNvPr id="6" name="Text 4"/>
          <p:cNvSpPr/>
          <p:nvPr/>
        </p:nvSpPr>
        <p:spPr>
          <a:xfrm>
            <a:off x="1073150" y="2693670"/>
            <a:ext cx="295194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3D world for cameras and LiDAR, and the road network the cars drive on.</a:t>
            </a:r>
            <a:endParaRPr lang="en-US" sz="1400" dirty="0"/>
          </a:p>
        </p:txBody>
      </p:sp>
      <p:sp>
        <p:nvSpPr>
          <p:cNvPr id="7" name="Shape 5"/>
          <p:cNvSpPr/>
          <p:nvPr/>
        </p:nvSpPr>
        <p:spPr>
          <a:xfrm>
            <a:off x="4405842" y="1697355"/>
            <a:ext cx="3380317" cy="2000250"/>
          </a:xfrm>
          <a:prstGeom prst="roundRect">
            <a:avLst>
              <a:gd name="adj" fmla="val 4921"/>
            </a:avLst>
          </a:prstGeom>
          <a:solidFill>
            <a:srgbClr val="FFFFFF"/>
          </a:solidFill>
          <a:ln w="6350">
            <a:solidFill>
              <a:srgbClr val="DAD6CC"/>
            </a:solidFill>
            <a:prstDash val="solid"/>
          </a:ln>
        </p:spPr>
      </p:sp>
      <p:sp>
        <p:nvSpPr>
          <p:cNvPr id="8" name="Text 6"/>
          <p:cNvSpPr/>
          <p:nvPr/>
        </p:nvSpPr>
        <p:spPr>
          <a:xfrm>
            <a:off x="4663017" y="1954530"/>
            <a:ext cx="2951946"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4500B"/>
                </a:solidFill>
                <a:latin typeface="IBM Plex Sans" pitchFamily="34" charset="0"/>
                <a:ea typeface="IBM Plex Sans" pitchFamily="34" charset="-122"/>
                <a:cs typeface="IBM Plex Sans" pitchFamily="34" charset="-120"/>
              </a:rPr>
              <a:t>AUTOWARE</a:t>
            </a:r>
            <a:endParaRPr lang="en-US" sz="1300" dirty="0"/>
          </a:p>
        </p:txBody>
      </p:sp>
      <p:sp>
        <p:nvSpPr>
          <p:cNvPr id="9" name="Text 7"/>
          <p:cNvSpPr/>
          <p:nvPr/>
        </p:nvSpPr>
        <p:spPr>
          <a:xfrm>
            <a:off x="4663017" y="2287270"/>
            <a:ext cx="29519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Lanelet2 + point cloud</a:t>
            </a:r>
            <a:endParaRPr lang="en-US" sz="2000" dirty="0"/>
          </a:p>
        </p:txBody>
      </p:sp>
      <p:sp>
        <p:nvSpPr>
          <p:cNvPr id="10" name="Text 8"/>
          <p:cNvSpPr/>
          <p:nvPr/>
        </p:nvSpPr>
        <p:spPr>
          <a:xfrm>
            <a:off x="4663017" y="2693670"/>
            <a:ext cx="295194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HD map for planning and the map Autoware localises against.</a:t>
            </a:r>
            <a:endParaRPr lang="en-US" sz="1400" dirty="0"/>
          </a:p>
        </p:txBody>
      </p:sp>
      <p:sp>
        <p:nvSpPr>
          <p:cNvPr id="11" name="Shape 9"/>
          <p:cNvSpPr/>
          <p:nvPr/>
        </p:nvSpPr>
        <p:spPr>
          <a:xfrm>
            <a:off x="7995708" y="1697355"/>
            <a:ext cx="3380317" cy="2000250"/>
          </a:xfrm>
          <a:prstGeom prst="roundRect">
            <a:avLst>
              <a:gd name="adj" fmla="val 4921"/>
            </a:avLst>
          </a:prstGeom>
          <a:solidFill>
            <a:srgbClr val="FFFFFF"/>
          </a:solidFill>
          <a:ln w="6350">
            <a:solidFill>
              <a:srgbClr val="DAD6CC"/>
            </a:solidFill>
            <a:prstDash val="solid"/>
          </a:ln>
        </p:spPr>
      </p:sp>
      <p:sp>
        <p:nvSpPr>
          <p:cNvPr id="12" name="Text 10"/>
          <p:cNvSpPr/>
          <p:nvPr/>
        </p:nvSpPr>
        <p:spPr>
          <a:xfrm>
            <a:off x="8252883" y="1954530"/>
            <a:ext cx="2951946"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4500B"/>
                </a:solidFill>
                <a:latin typeface="IBM Plex Sans" pitchFamily="34" charset="0"/>
                <a:ea typeface="IBM Plex Sans" pitchFamily="34" charset="-122"/>
                <a:cs typeface="IBM Plex Sans" pitchFamily="34" charset="-120"/>
              </a:rPr>
              <a:t>ROADRUNNER</a:t>
            </a:r>
            <a:endParaRPr lang="en-US" sz="1300" dirty="0"/>
          </a:p>
        </p:txBody>
      </p:sp>
      <p:sp>
        <p:nvSpPr>
          <p:cNvPr id="13" name="Text 11"/>
          <p:cNvSpPr/>
          <p:nvPr/>
        </p:nvSpPr>
        <p:spPr>
          <a:xfrm>
            <a:off x="8252883" y="2287270"/>
            <a:ext cx="29519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An editable project</a:t>
            </a:r>
            <a:endParaRPr lang="en-US" sz="2000" dirty="0"/>
          </a:p>
        </p:txBody>
      </p:sp>
      <p:sp>
        <p:nvSpPr>
          <p:cNvPr id="14" name="Text 12"/>
          <p:cNvSpPr/>
          <p:nvPr/>
        </p:nvSpPr>
        <p:spPr>
          <a:xfrm>
            <a:off x="8252883" y="2693670"/>
            <a:ext cx="295194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Same roads, library trees and signs; every building is a prop you can move.</a:t>
            </a:r>
            <a:endParaRPr lang="en-US" sz="1400" dirty="0"/>
          </a:p>
        </p:txBody>
      </p:sp>
      <p:sp>
        <p:nvSpPr>
          <p:cNvPr id="15" name="Text 13"/>
          <p:cNvSpPr/>
          <p:nvPr/>
        </p:nvSpPr>
        <p:spPr>
          <a:xfrm>
            <a:off x="812800" y="405638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All three share one local frame: a point in the OpenDRIVE is the same point in Lanelet2 and in Unreal.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14213D"/>
                </a:solidFill>
                <a:latin typeface="Space Grotesk" pitchFamily="34" charset="0"/>
                <a:ea typeface="Space Grotesk" pitchFamily="34" charset="-122"/>
                <a:cs typeface="Space Grotesk" pitchFamily="34" charset="-120"/>
              </a:rPr>
              <a:t>How a run works</a:t>
            </a:r>
            <a:endParaRPr lang="en-US" sz="3600" dirty="0"/>
          </a:p>
        </p:txBody>
      </p:sp>
      <p:sp>
        <p:nvSpPr>
          <p:cNvPr id="3" name="Shape 1"/>
          <p:cNvSpPr/>
          <p:nvPr/>
        </p:nvSpPr>
        <p:spPr>
          <a:xfrm>
            <a:off x="812800" y="1694180"/>
            <a:ext cx="2011680" cy="1866900"/>
          </a:xfrm>
          <a:prstGeom prst="roundRect">
            <a:avLst>
              <a:gd name="adj" fmla="val 5442"/>
            </a:avLst>
          </a:prstGeom>
          <a:solidFill>
            <a:srgbClr val="14213D"/>
          </a:solidFill>
          <a:ln/>
        </p:spPr>
      </p:sp>
      <p:sp>
        <p:nvSpPr>
          <p:cNvPr id="4" name="Text 2"/>
          <p:cNvSpPr/>
          <p:nvPr/>
        </p:nvSpPr>
        <p:spPr>
          <a:xfrm>
            <a:off x="1016000" y="1897380"/>
            <a:ext cx="165608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9B5E"/>
                </a:solidFill>
                <a:latin typeface="Space Grotesk" pitchFamily="34" charset="0"/>
                <a:ea typeface="Space Grotesk" pitchFamily="34" charset="-122"/>
                <a:cs typeface="Space Grotesk" pitchFamily="34" charset="-120"/>
              </a:rPr>
              <a:t>1</a:t>
            </a:r>
            <a:endParaRPr lang="en-US" sz="2000" dirty="0"/>
          </a:p>
        </p:txBody>
      </p:sp>
      <p:sp>
        <p:nvSpPr>
          <p:cNvPr id="5" name="Text 3"/>
          <p:cNvSpPr/>
          <p:nvPr/>
        </p:nvSpPr>
        <p:spPr>
          <a:xfrm>
            <a:off x="1016000" y="2329180"/>
            <a:ext cx="165608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2EC"/>
                </a:solidFill>
                <a:latin typeface="Space Grotesk" pitchFamily="34" charset="0"/>
                <a:ea typeface="Space Grotesk" pitchFamily="34" charset="-122"/>
                <a:cs typeface="Space Grotesk" pitchFamily="34" charset="-120"/>
              </a:rPr>
              <a:t>Pick</a:t>
            </a:r>
            <a:endParaRPr lang="en-US" sz="1700" dirty="0"/>
          </a:p>
        </p:txBody>
      </p:sp>
      <p:sp>
        <p:nvSpPr>
          <p:cNvPr id="6" name="Text 4"/>
          <p:cNvSpPr/>
          <p:nvPr/>
        </p:nvSpPr>
        <p:spPr>
          <a:xfrm>
            <a:off x="1016000" y="2664461"/>
            <a:ext cx="165608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CE8"/>
                </a:solidFill>
                <a:latin typeface="IBM Plex Sans" pitchFamily="34" charset="0"/>
                <a:ea typeface="IBM Plex Sans" pitchFamily="34" charset="-122"/>
                <a:cs typeface="IBM Plex Sans" pitchFamily="34" charset="-120"/>
              </a:rPr>
              <a:t>A route along roads, a freehand line, or a closed area.</a:t>
            </a:r>
            <a:endParaRPr lang="en-US" sz="1300" dirty="0"/>
          </a:p>
        </p:txBody>
      </p:sp>
      <p:sp>
        <p:nvSpPr>
          <p:cNvPr id="7" name="Shape 5"/>
          <p:cNvSpPr/>
          <p:nvPr/>
        </p:nvSpPr>
        <p:spPr>
          <a:xfrm>
            <a:off x="2951480" y="1694180"/>
            <a:ext cx="2011680" cy="1866900"/>
          </a:xfrm>
          <a:prstGeom prst="roundRect">
            <a:avLst>
              <a:gd name="adj" fmla="val 5442"/>
            </a:avLst>
          </a:prstGeom>
          <a:solidFill>
            <a:srgbClr val="14213D"/>
          </a:solidFill>
          <a:ln/>
        </p:spPr>
      </p:sp>
      <p:sp>
        <p:nvSpPr>
          <p:cNvPr id="8" name="Text 6"/>
          <p:cNvSpPr/>
          <p:nvPr/>
        </p:nvSpPr>
        <p:spPr>
          <a:xfrm>
            <a:off x="3154680" y="1897380"/>
            <a:ext cx="165608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9B5E"/>
                </a:solidFill>
                <a:latin typeface="Space Grotesk" pitchFamily="34" charset="0"/>
                <a:ea typeface="Space Grotesk" pitchFamily="34" charset="-122"/>
                <a:cs typeface="Space Grotesk" pitchFamily="34" charset="-120"/>
              </a:rPr>
              <a:t>2</a:t>
            </a:r>
            <a:endParaRPr lang="en-US" sz="2000" dirty="0"/>
          </a:p>
        </p:txBody>
      </p:sp>
      <p:sp>
        <p:nvSpPr>
          <p:cNvPr id="9" name="Text 7"/>
          <p:cNvSpPr/>
          <p:nvPr/>
        </p:nvSpPr>
        <p:spPr>
          <a:xfrm>
            <a:off x="3154680" y="2329180"/>
            <a:ext cx="165608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2EC"/>
                </a:solidFill>
                <a:latin typeface="Space Grotesk" pitchFamily="34" charset="0"/>
                <a:ea typeface="Space Grotesk" pitchFamily="34" charset="-122"/>
                <a:cs typeface="Space Grotesk" pitchFamily="34" charset="-120"/>
              </a:rPr>
              <a:t>Download</a:t>
            </a:r>
            <a:endParaRPr lang="en-US" sz="1700" dirty="0"/>
          </a:p>
        </p:txBody>
      </p:sp>
      <p:sp>
        <p:nvSpPr>
          <p:cNvPr id="10" name="Text 8"/>
          <p:cNvSpPr/>
          <p:nvPr/>
        </p:nvSpPr>
        <p:spPr>
          <a:xfrm>
            <a:off x="3154680" y="2664461"/>
            <a:ext cx="165608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CE8"/>
                </a:solidFill>
                <a:latin typeface="IBM Plex Sans" pitchFamily="34" charset="0"/>
                <a:ea typeface="IBM Plex Sans" pitchFamily="34" charset="-122"/>
                <a:cs typeface="IBM Plex Sans" pitchFamily="34" charset="-120"/>
              </a:rPr>
              <a:t>OSM, terrain, LIDAR, photos and textures, all in parallel.</a:t>
            </a:r>
            <a:endParaRPr lang="en-US" sz="1300" dirty="0"/>
          </a:p>
        </p:txBody>
      </p:sp>
      <p:sp>
        <p:nvSpPr>
          <p:cNvPr id="11" name="Shape 9"/>
          <p:cNvSpPr/>
          <p:nvPr/>
        </p:nvSpPr>
        <p:spPr>
          <a:xfrm>
            <a:off x="5090160" y="1694180"/>
            <a:ext cx="2011680" cy="1866900"/>
          </a:xfrm>
          <a:prstGeom prst="roundRect">
            <a:avLst>
              <a:gd name="adj" fmla="val 5442"/>
            </a:avLst>
          </a:prstGeom>
          <a:solidFill>
            <a:srgbClr val="14213D"/>
          </a:solidFill>
          <a:ln/>
        </p:spPr>
      </p:sp>
      <p:sp>
        <p:nvSpPr>
          <p:cNvPr id="12" name="Text 10"/>
          <p:cNvSpPr/>
          <p:nvPr/>
        </p:nvSpPr>
        <p:spPr>
          <a:xfrm>
            <a:off x="5293360" y="1897380"/>
            <a:ext cx="165608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9B5E"/>
                </a:solidFill>
                <a:latin typeface="Space Grotesk" pitchFamily="34" charset="0"/>
                <a:ea typeface="Space Grotesk" pitchFamily="34" charset="-122"/>
                <a:cs typeface="Space Grotesk" pitchFamily="34" charset="-120"/>
              </a:rPr>
              <a:t>3</a:t>
            </a:r>
            <a:endParaRPr lang="en-US" sz="2000" dirty="0"/>
          </a:p>
        </p:txBody>
      </p:sp>
      <p:sp>
        <p:nvSpPr>
          <p:cNvPr id="13" name="Text 11"/>
          <p:cNvSpPr/>
          <p:nvPr/>
        </p:nvSpPr>
        <p:spPr>
          <a:xfrm>
            <a:off x="5293360" y="2329180"/>
            <a:ext cx="165608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2EC"/>
                </a:solidFill>
                <a:latin typeface="Space Grotesk" pitchFamily="34" charset="0"/>
                <a:ea typeface="Space Grotesk" pitchFamily="34" charset="-122"/>
                <a:cs typeface="Space Grotesk" pitchFamily="34" charset="-120"/>
              </a:rPr>
              <a:t>Network</a:t>
            </a:r>
            <a:endParaRPr lang="en-US" sz="1700" dirty="0"/>
          </a:p>
        </p:txBody>
      </p:sp>
      <p:sp>
        <p:nvSpPr>
          <p:cNvPr id="14" name="Text 12"/>
          <p:cNvSpPr/>
          <p:nvPr/>
        </p:nvSpPr>
        <p:spPr>
          <a:xfrm>
            <a:off x="5293360" y="2664461"/>
            <a:ext cx="165608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CE8"/>
                </a:solidFill>
                <a:latin typeface="IBM Plex Sans" pitchFamily="34" charset="0"/>
                <a:ea typeface="IBM Plex Sans" pitchFamily="34" charset="-122"/>
                <a:cs typeface="IBM Plex Sans" pitchFamily="34" charset="-120"/>
              </a:rPr>
              <a:t>Real junctions, exits and roundabouts, with heights.</a:t>
            </a:r>
            <a:endParaRPr lang="en-US" sz="1300" dirty="0"/>
          </a:p>
        </p:txBody>
      </p:sp>
      <p:sp>
        <p:nvSpPr>
          <p:cNvPr id="15" name="Shape 13"/>
          <p:cNvSpPr/>
          <p:nvPr/>
        </p:nvSpPr>
        <p:spPr>
          <a:xfrm>
            <a:off x="7228840" y="1694180"/>
            <a:ext cx="2011680" cy="1866900"/>
          </a:xfrm>
          <a:prstGeom prst="roundRect">
            <a:avLst>
              <a:gd name="adj" fmla="val 5442"/>
            </a:avLst>
          </a:prstGeom>
          <a:solidFill>
            <a:srgbClr val="14213D"/>
          </a:solidFill>
          <a:ln/>
        </p:spPr>
      </p:sp>
      <p:sp>
        <p:nvSpPr>
          <p:cNvPr id="16" name="Text 14"/>
          <p:cNvSpPr/>
          <p:nvPr/>
        </p:nvSpPr>
        <p:spPr>
          <a:xfrm>
            <a:off x="7432040" y="1897380"/>
            <a:ext cx="165608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9B5E"/>
                </a:solidFill>
                <a:latin typeface="Space Grotesk" pitchFamily="34" charset="0"/>
                <a:ea typeface="Space Grotesk" pitchFamily="34" charset="-122"/>
                <a:cs typeface="Space Grotesk" pitchFamily="34" charset="-120"/>
              </a:rPr>
              <a:t>4</a:t>
            </a:r>
            <a:endParaRPr lang="en-US" sz="2000" dirty="0"/>
          </a:p>
        </p:txBody>
      </p:sp>
      <p:sp>
        <p:nvSpPr>
          <p:cNvPr id="17" name="Text 15"/>
          <p:cNvSpPr/>
          <p:nvPr/>
        </p:nvSpPr>
        <p:spPr>
          <a:xfrm>
            <a:off x="7432040" y="2329180"/>
            <a:ext cx="165608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2EC"/>
                </a:solidFill>
                <a:latin typeface="Space Grotesk" pitchFamily="34" charset="0"/>
                <a:ea typeface="Space Grotesk" pitchFamily="34" charset="-122"/>
                <a:cs typeface="Space Grotesk" pitchFamily="34" charset="-120"/>
              </a:rPr>
              <a:t>Scene</a:t>
            </a:r>
            <a:endParaRPr lang="en-US" sz="1700" dirty="0"/>
          </a:p>
        </p:txBody>
      </p:sp>
      <p:sp>
        <p:nvSpPr>
          <p:cNvPr id="18" name="Text 16"/>
          <p:cNvSpPr/>
          <p:nvPr/>
        </p:nvSpPr>
        <p:spPr>
          <a:xfrm>
            <a:off x="7432040" y="2664461"/>
            <a:ext cx="165608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CE8"/>
                </a:solidFill>
                <a:latin typeface="IBM Plex Sans" pitchFamily="34" charset="0"/>
                <a:ea typeface="IBM Plex Sans" pitchFamily="34" charset="-122"/>
                <a:cs typeface="IBM Plex Sans" pitchFamily="34" charset="-120"/>
              </a:rPr>
              <a:t>Terrain, ground types, buildings, trees, signs, barriers.</a:t>
            </a:r>
            <a:endParaRPr lang="en-US" sz="1300" dirty="0"/>
          </a:p>
        </p:txBody>
      </p:sp>
      <p:sp>
        <p:nvSpPr>
          <p:cNvPr id="19" name="Shape 17"/>
          <p:cNvSpPr/>
          <p:nvPr/>
        </p:nvSpPr>
        <p:spPr>
          <a:xfrm>
            <a:off x="9367520" y="1694180"/>
            <a:ext cx="2011680" cy="1866900"/>
          </a:xfrm>
          <a:prstGeom prst="roundRect">
            <a:avLst>
              <a:gd name="adj" fmla="val 5442"/>
            </a:avLst>
          </a:prstGeom>
          <a:solidFill>
            <a:srgbClr val="14213D"/>
          </a:solidFill>
          <a:ln/>
        </p:spPr>
      </p:sp>
      <p:sp>
        <p:nvSpPr>
          <p:cNvPr id="20" name="Text 18"/>
          <p:cNvSpPr/>
          <p:nvPr/>
        </p:nvSpPr>
        <p:spPr>
          <a:xfrm>
            <a:off x="9570720" y="1897380"/>
            <a:ext cx="165608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9B5E"/>
                </a:solidFill>
                <a:latin typeface="Space Grotesk" pitchFamily="34" charset="0"/>
                <a:ea typeface="Space Grotesk" pitchFamily="34" charset="-122"/>
                <a:cs typeface="Space Grotesk" pitchFamily="34" charset="-120"/>
              </a:rPr>
              <a:t>5</a:t>
            </a:r>
            <a:endParaRPr lang="en-US" sz="2000" dirty="0"/>
          </a:p>
        </p:txBody>
      </p:sp>
      <p:sp>
        <p:nvSpPr>
          <p:cNvPr id="21" name="Text 19"/>
          <p:cNvSpPr/>
          <p:nvPr/>
        </p:nvSpPr>
        <p:spPr>
          <a:xfrm>
            <a:off x="9570720" y="2329180"/>
            <a:ext cx="165608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2EC"/>
                </a:solidFill>
                <a:latin typeface="Space Grotesk" pitchFamily="34" charset="0"/>
                <a:ea typeface="Space Grotesk" pitchFamily="34" charset="-122"/>
                <a:cs typeface="Space Grotesk" pitchFamily="34" charset="-120"/>
              </a:rPr>
              <a:t>Write</a:t>
            </a:r>
            <a:endParaRPr lang="en-US" sz="1700" dirty="0"/>
          </a:p>
        </p:txBody>
      </p:sp>
      <p:sp>
        <p:nvSpPr>
          <p:cNvPr id="22" name="Text 20"/>
          <p:cNvSpPr/>
          <p:nvPr/>
        </p:nvSpPr>
        <p:spPr>
          <a:xfrm>
            <a:off x="9570720" y="2664461"/>
            <a:ext cx="165608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CE8"/>
                </a:solidFill>
                <a:latin typeface="IBM Plex Sans" pitchFamily="34" charset="0"/>
                <a:ea typeface="IBM Plex Sans" pitchFamily="34" charset="-122"/>
                <a:cs typeface="IBM Plex Sans" pitchFamily="34" charset="-120"/>
              </a:rPr>
              <a:t>FBX, OpenDRIVE, Lanelet2, point cloud, RoadRunner.</a:t>
            </a:r>
            <a:endParaRPr lang="en-US" sz="1300" dirty="0"/>
          </a:p>
        </p:txBody>
      </p:sp>
      <p:sp>
        <p:nvSpPr>
          <p:cNvPr id="23" name="Text 21"/>
          <p:cNvSpPr/>
          <p:nvPr/>
        </p:nvSpPr>
        <p:spPr>
          <a:xfrm>
            <a:off x="812800" y="391668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A browser page drives it, with a progress bar per step. The same pipeline runs from the command line.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7112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4213D"/>
                </a:solidFill>
                <a:latin typeface="Space Grotesk" pitchFamily="34" charset="0"/>
                <a:ea typeface="Space Grotesk" pitchFamily="34" charset="-122"/>
                <a:cs typeface="Space Grotesk" pitchFamily="34" charset="-120"/>
              </a:rPr>
              <a:t>The services we use, and why</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9861"/>
          <a:ext cx="10553700" cy="3327400"/>
        </p:xfrm>
        <a:graphic>
          <a:graphicData uri="http://schemas.openxmlformats.org/drawingml/2006/table">
            <a:tbl>
              <a:tblPr/>
              <a:tblGrid>
                <a:gridCol w="2638425"/>
                <a:gridCol w="3166110"/>
                <a:gridCol w="4749165"/>
              </a:tblGrid>
              <a:tr h="33274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Service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What it gives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Why this 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33274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OpenStreetMap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Roads, buildings, signs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 and the most detailed free map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274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Overpass, Geofabrik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OSM for the zone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Live queries; offline extract when busy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274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OSRM, Valhalla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Route along the roads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Free, no key; two avoid wrong-way detours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274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IGN RGE ALTI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Terrain height, 1 to 2 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Official French model, open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274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IGN LIDAR HD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Trees over 3 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Height and crown measured, not guessed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274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IGN photos, BD TOPO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Ground types, heights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Tell grass from dirt; fill OSM's gaps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274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AWS Terrain Tiles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Height outside France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Worldwide and free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274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ambientCG, Poly Haven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Ground photo textures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CC0, free to ship with the map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274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CARLA, RoadRunner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Junctions; editing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Already installed on this machine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4" name="Text 1"/>
          <p:cNvSpPr/>
          <p:nvPr/>
        </p:nvSpPr>
        <p:spPr>
          <a:xfrm>
            <a:off x="812800" y="4975861"/>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Not Google Maps: its terms forbid extracting the data, and the API needs a key and billing.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F4F2EC"/>
                </a:solidFill>
                <a:latin typeface="Space Grotesk" pitchFamily="34" charset="0"/>
                <a:ea typeface="Space Grotesk" pitchFamily="34" charset="-122"/>
                <a:cs typeface="Space Grotesk" pitchFamily="34" charset="-120"/>
              </a:rPr>
              <a:t>The road comes first</a:t>
            </a:r>
            <a:endParaRPr lang="en-US" sz="3600" dirty="0"/>
          </a:p>
        </p:txBody>
      </p:sp>
      <p:sp>
        <p:nvSpPr>
          <p:cNvPr id="3" name="Text 1"/>
          <p:cNvSpPr/>
          <p:nvPr/>
        </p:nvSpPr>
        <p:spPr>
          <a:xfrm>
            <a:off x="812800" y="1694179"/>
            <a:ext cx="3488267"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F29B5E"/>
                </a:solidFill>
                <a:latin typeface="Space Grotesk" pitchFamily="34" charset="0"/>
                <a:ea typeface="Space Grotesk" pitchFamily="34" charset="-122"/>
                <a:cs typeface="Space Grotesk" pitchFamily="34" charset="-120"/>
              </a:rPr>
              <a:t>847</a:t>
            </a:r>
            <a:endParaRPr lang="en-US" sz="5600" dirty="0"/>
          </a:p>
        </p:txBody>
      </p:sp>
      <p:sp>
        <p:nvSpPr>
          <p:cNvPr id="4" name="Text 2"/>
          <p:cNvSpPr/>
          <p:nvPr/>
        </p:nvSpPr>
        <p:spPr>
          <a:xfrm>
            <a:off x="812800" y="2456179"/>
            <a:ext cx="348826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5DCE8"/>
                </a:solidFill>
                <a:latin typeface="IBM Plex Sans" pitchFamily="34" charset="0"/>
                <a:ea typeface="IBM Plex Sans" pitchFamily="34" charset="-122"/>
                <a:cs typeface="IBM Plex Sans" pitchFamily="34" charset="-120"/>
              </a:rPr>
              <a:t>junctions on the 56 km A10 loop, built from OSM</a:t>
            </a:r>
            <a:endParaRPr lang="en-US" sz="1500" dirty="0"/>
          </a:p>
        </p:txBody>
      </p:sp>
      <p:sp>
        <p:nvSpPr>
          <p:cNvPr id="5" name="Text 3"/>
          <p:cNvSpPr/>
          <p:nvPr/>
        </p:nvSpPr>
        <p:spPr>
          <a:xfrm>
            <a:off x="4402667" y="1694179"/>
            <a:ext cx="3488267"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F29B5E"/>
                </a:solidFill>
                <a:latin typeface="Space Grotesk" pitchFamily="34" charset="0"/>
                <a:ea typeface="Space Grotesk" pitchFamily="34" charset="-122"/>
                <a:cs typeface="Space Grotesk" pitchFamily="34" charset="-120"/>
              </a:rPr>
              <a:t>0</a:t>
            </a:r>
            <a:endParaRPr lang="en-US" sz="5600" dirty="0"/>
          </a:p>
        </p:txBody>
      </p:sp>
      <p:sp>
        <p:nvSpPr>
          <p:cNvPr id="6" name="Text 4"/>
          <p:cNvSpPr/>
          <p:nvPr/>
        </p:nvSpPr>
        <p:spPr>
          <a:xfrm>
            <a:off x="4402667" y="2456179"/>
            <a:ext cx="348826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5DCE8"/>
                </a:solidFill>
                <a:latin typeface="IBM Plex Sans" pitchFamily="34" charset="0"/>
                <a:ea typeface="IBM Plex Sans" pitchFamily="34" charset="-122"/>
                <a:cs typeface="IBM Plex Sans" pitchFamily="34" charset="-120"/>
              </a:rPr>
              <a:t>roads or traffic lights left at height 0, in our xodr and in RoadRunner's</a:t>
            </a:r>
            <a:endParaRPr lang="en-US" sz="1500" dirty="0"/>
          </a:p>
        </p:txBody>
      </p:sp>
      <p:sp>
        <p:nvSpPr>
          <p:cNvPr id="7" name="Text 5"/>
          <p:cNvSpPr/>
          <p:nvPr/>
        </p:nvSpPr>
        <p:spPr>
          <a:xfrm>
            <a:off x="7992533" y="1694179"/>
            <a:ext cx="3488267"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F29B5E"/>
                </a:solidFill>
                <a:latin typeface="Space Grotesk" pitchFamily="34" charset="0"/>
                <a:ea typeface="Space Grotesk" pitchFamily="34" charset="-122"/>
                <a:cs typeface="Space Grotesk" pitchFamily="34" charset="-120"/>
              </a:rPr>
              <a:t>10 m</a:t>
            </a:r>
            <a:endParaRPr lang="en-US" sz="5600" dirty="0"/>
          </a:p>
        </p:txBody>
      </p:sp>
      <p:sp>
        <p:nvSpPr>
          <p:cNvPr id="8" name="Text 6"/>
          <p:cNvSpPr/>
          <p:nvPr/>
        </p:nvSpPr>
        <p:spPr>
          <a:xfrm>
            <a:off x="7992533" y="2456179"/>
            <a:ext cx="348826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5DCE8"/>
                </a:solidFill>
                <a:latin typeface="IBM Plex Sans" pitchFamily="34" charset="0"/>
                <a:ea typeface="IBM Plex Sans" pitchFamily="34" charset="-122"/>
                <a:cs typeface="IBM Plex Sans" pitchFamily="34" charset="-120"/>
              </a:rPr>
              <a:t>every point of the route checked: on a lane, reachable from the start</a:t>
            </a:r>
            <a:endParaRPr lang="en-US" sz="1500" dirty="0"/>
          </a:p>
        </p:txBody>
      </p:sp>
      <p:sp>
        <p:nvSpPr>
          <p:cNvPr id="9" name="Text 7"/>
          <p:cNvSpPr/>
          <p:nvPr/>
        </p:nvSpPr>
        <p:spPr>
          <a:xfrm>
            <a:off x="812800" y="3345179"/>
            <a:ext cx="1088339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D5DCE8"/>
                </a:solidFill>
                <a:latin typeface="IBM Plex Sans" pitchFamily="34" charset="0"/>
                <a:ea typeface="IBM Plex Sans" pitchFamily="34" charset="-122"/>
                <a:cs typeface="IBM Plex Sans" pitchFamily="34" charset="-120"/>
              </a:rPr>
              <a:t>Roads longer than 1 km are split at exact joints. Service roads and bus-lane roads stay drivable. Neighbouring lanes share their line so Autoware can change lanes to reach an exit.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14213D"/>
                </a:solidFill>
                <a:latin typeface="Space Grotesk" pitchFamily="34" charset="0"/>
                <a:ea typeface="Space Grotesk" pitchFamily="34" charset="-122"/>
                <a:cs typeface="Space Grotesk" pitchFamily="34" charset="-120"/>
              </a:rPr>
              <a:t>Ground that looks like the place</a:t>
            </a:r>
            <a:endParaRPr lang="en-US" sz="3600" dirty="0"/>
          </a:p>
        </p:txBody>
      </p:sp>
      <p:pic>
        <p:nvPicPr>
          <p:cNvPr id="3" name="Image 0" descr="The same verge at low, medium and high ground quality">    </p:cNvPr>
          <p:cNvPicPr>
            <a:picLocks noChangeAspect="1"/>
          </p:cNvPicPr>
          <p:nvPr/>
        </p:nvPicPr>
        <p:blipFill>
          <a:blip r:embed="rId1"/>
          <a:srcRect l="48" r="48" t="0" b="0"/>
          <a:stretch/>
        </p:blipFill>
        <p:spPr>
          <a:xfrm>
            <a:off x="812800" y="1592579"/>
            <a:ext cx="10566400" cy="2203450"/>
          </a:xfrm>
          <a:prstGeom prst="roundRect">
            <a:avLst>
              <a:gd name="adj" fmla="val 3458"/>
            </a:avLst>
          </a:prstGeom>
        </p:spPr>
      </p:pic>
      <p:sp>
        <p:nvSpPr>
          <p:cNvPr id="4" name="Text 1"/>
          <p:cNvSpPr/>
          <p:nvPr/>
        </p:nvSpPr>
        <p:spPr>
          <a:xfrm>
            <a:off x="812800" y="4050029"/>
            <a:ext cx="3488267"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Low.</a:t>
            </a:r>
            <a:r>
              <a:rPr lang="en-US" sz="1400" dirty="0">
                <a:solidFill>
                  <a:srgbClr val="14213D"/>
                </a:solidFill>
                <a:latin typeface="IBM Plex Sans" pitchFamily="34" charset="0"/>
                <a:ea typeface="IBM Plex Sans" pitchFamily="34" charset="-122"/>
                <a:cs typeface="IBM Plex Sans" pitchFamily="34" charset="-120"/>
              </a:rPr>
              <a:t> Flat colours with soft blends. No download.</a:t>
            </a:r>
            <a:endParaRPr lang="en-US" sz="1400" dirty="0"/>
          </a:p>
        </p:txBody>
      </p:sp>
      <p:sp>
        <p:nvSpPr>
          <p:cNvPr id="5" name="Text 2"/>
          <p:cNvSpPr/>
          <p:nvPr/>
        </p:nvSpPr>
        <p:spPr>
          <a:xfrm>
            <a:off x="4402667" y="4050029"/>
            <a:ext cx="3488267"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Medium.</a:t>
            </a:r>
            <a:r>
              <a:rPr lang="en-US" sz="1400" dirty="0">
                <a:solidFill>
                  <a:srgbClr val="14213D"/>
                </a:solidFill>
                <a:latin typeface="IBM Plex Sans" pitchFamily="34" charset="0"/>
                <a:ea typeface="IBM Plex Sans" pitchFamily="34" charset="-122"/>
                <a:cs typeface="IBM Plex Sans" pitchFamily="34" charset="-120"/>
              </a:rPr>
              <a:t> CC0 photo textures; one ground type thins out into the next.</a:t>
            </a:r>
            <a:endParaRPr lang="en-US" sz="1400" dirty="0"/>
          </a:p>
        </p:txBody>
      </p:sp>
      <p:sp>
        <p:nvSpPr>
          <p:cNvPr id="6" name="Text 3"/>
          <p:cNvSpPr/>
          <p:nvPr/>
        </p:nvSpPr>
        <p:spPr>
          <a:xfrm>
            <a:off x="7992533" y="4050029"/>
            <a:ext cx="3488267"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High.</a:t>
            </a:r>
            <a:r>
              <a:rPr lang="en-US" sz="1400" dirty="0">
                <a:solidFill>
                  <a:srgbClr val="14213D"/>
                </a:solidFill>
                <a:latin typeface="IBM Plex Sans" pitchFamily="34" charset="0"/>
                <a:ea typeface="IBM Plex Sans" pitchFamily="34" charset="-122"/>
                <a:cs typeface="IBM Plex Sans" pitchFamily="34" charset="-120"/>
              </a:rPr>
              <a:t> Sharper textures, grass tufts, flowers and small stones near the road.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1963421"/>
            <a:ext cx="5232400" cy="107696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14213D"/>
                </a:solidFill>
                <a:latin typeface="Space Grotesk" pitchFamily="34" charset="0"/>
                <a:ea typeface="Space Grotesk" pitchFamily="34" charset="-122"/>
                <a:cs typeface="Space Grotesk" pitchFamily="34" charset="-120"/>
              </a:rPr>
              <a:t>Real trees, real buildings</a:t>
            </a:r>
            <a:endParaRPr lang="en-US" sz="3600" dirty="0"/>
          </a:p>
        </p:txBody>
      </p:sp>
      <p:sp>
        <p:nvSpPr>
          <p:cNvPr id="3" name="Text 1"/>
          <p:cNvSpPr/>
          <p:nvPr/>
        </p:nvSpPr>
        <p:spPr>
          <a:xfrm>
            <a:off x="812800" y="3218179"/>
            <a:ext cx="5232400"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Trees come from the IGN LIDAR: position, height and crown width are measured. Near the road they get a detailed model.</a:t>
            </a:r>
            <a:endParaRPr lang="en-US" sz="1600" dirty="0"/>
          </a:p>
        </p:txBody>
      </p:sp>
      <p:sp>
        <p:nvSpPr>
          <p:cNvPr id="4" name="Text 2"/>
          <p:cNvSpPr/>
          <p:nvPr/>
        </p:nvSpPr>
        <p:spPr>
          <a:xfrm>
            <a:off x="812800" y="4305300"/>
            <a:ext cx="5232400"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Buildings take their footprint from OSM and their height from BD TOPO, with a facade and roof style by type.</a:t>
            </a:r>
            <a:endParaRPr lang="en-US" sz="1600" dirty="0"/>
          </a:p>
        </p:txBody>
      </p:sp>
      <p:pic>
        <p:nvPicPr>
          <p:cNvPr id="5" name="Image 0" descr="Briis-sous-Forges: lidar trees, a village with pitched roofs, fields">    </p:cNvPr>
          <p:cNvPicPr>
            <a:picLocks noChangeAspect="1"/>
          </p:cNvPicPr>
          <p:nvPr/>
        </p:nvPicPr>
        <p:blipFill>
          <a:blip r:embed="rId1"/>
          <a:srcRect l="10625" r="10625" t="0" b="0"/>
          <a:stretch/>
        </p:blipFill>
        <p:spPr>
          <a:xfrm>
            <a:off x="6299200" y="1651000"/>
            <a:ext cx="4978400" cy="3556000"/>
          </a:xfrm>
          <a:prstGeom prst="roundRect">
            <a:avLst>
              <a:gd name="adj" fmla="val 2857"/>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p:bgPr>
    </p:bg>
    <p:spTree>
      <p:nvGrpSpPr>
        <p:cNvPr id="1" name=""/>
        <p:cNvGrpSpPr/>
        <p:nvPr/>
      </p:nvGrpSpPr>
      <p:grpSpPr>
        <a:xfrm>
          <a:off x="0" y="0"/>
          <a:ext cx="0" cy="0"/>
          <a:chOff x="0" y="0"/>
          <a:chExt cx="0" cy="0"/>
        </a:xfrm>
      </p:grpSpPr>
      <p:pic>
        <p:nvPicPr>
          <p:cNvPr id="2" name="Image 0" descr="A zone of Massy in RoadRunner: streets, junctions, buildings, trees">    </p:cNvPr>
          <p:cNvPicPr>
            <a:picLocks noChangeAspect="1"/>
          </p:cNvPicPr>
          <p:nvPr/>
        </p:nvPicPr>
        <p:blipFill>
          <a:blip r:embed="rId1"/>
          <a:srcRect l="10625" r="10625" t="0" b="0"/>
          <a:stretch/>
        </p:blipFill>
        <p:spPr>
          <a:xfrm>
            <a:off x="812800" y="1651000"/>
            <a:ext cx="4978400" cy="3556000"/>
          </a:xfrm>
          <a:prstGeom prst="roundRect">
            <a:avLst>
              <a:gd name="adj" fmla="val 2857"/>
            </a:avLst>
          </a:prstGeom>
        </p:spPr>
      </p:pic>
      <p:sp>
        <p:nvSpPr>
          <p:cNvPr id="3" name="Text 0"/>
          <p:cNvSpPr/>
          <p:nvPr/>
        </p:nvSpPr>
        <p:spPr>
          <a:xfrm>
            <a:off x="6299200" y="2226311"/>
            <a:ext cx="5232400" cy="55118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14213D"/>
                </a:solidFill>
                <a:latin typeface="Space Grotesk" pitchFamily="34" charset="0"/>
                <a:ea typeface="Space Grotesk" pitchFamily="34" charset="-122"/>
                <a:cs typeface="Space Grotesk" pitchFamily="34" charset="-120"/>
              </a:rPr>
              <a:t>Edit it in RoadRunner</a:t>
            </a:r>
            <a:endParaRPr lang="en-US" sz="3600" dirty="0"/>
          </a:p>
        </p:txBody>
      </p:sp>
      <p:sp>
        <p:nvSpPr>
          <p:cNvPr id="4" name="Text 1"/>
          <p:cNvSpPr/>
          <p:nvPr/>
        </p:nvSpPr>
        <p:spPr>
          <a:xfrm>
            <a:off x="6299200" y="2955289"/>
            <a:ext cx="5232400"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RoadRunner runs without a window and builds the project through its API: the same roads, its own library trees, signs and grass.</a:t>
            </a:r>
            <a:endParaRPr lang="en-US" sz="1600" dirty="0"/>
          </a:p>
        </p:txBody>
      </p:sp>
      <p:sp>
        <p:nvSpPr>
          <p:cNvPr id="5" name="Text 2"/>
          <p:cNvSpPr/>
          <p:nvPr/>
        </p:nvSpPr>
        <p:spPr>
          <a:xfrm>
            <a:off x="6299200" y="4042408"/>
            <a:ext cx="5232400"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Every building is a separate prop. Move it, turn it, delete it, then export to CARLA from RoadRunner.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2373629"/>
            <a:ext cx="5232400" cy="55118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14213D"/>
                </a:solidFill>
                <a:latin typeface="Space Grotesk" pitchFamily="34" charset="0"/>
                <a:ea typeface="Space Grotesk" pitchFamily="34" charset="-122"/>
                <a:cs typeface="Space Grotesk" pitchFamily="34" charset="-120"/>
              </a:rPr>
              <a:t>A road or a whole zone</a:t>
            </a:r>
            <a:endParaRPr lang="en-US" sz="3600" dirty="0"/>
          </a:p>
        </p:txBody>
      </p:sp>
      <p:sp>
        <p:nvSpPr>
          <p:cNvPr id="3" name="Text 1"/>
          <p:cNvSpPr/>
          <p:nvPr/>
        </p:nvSpPr>
        <p:spPr>
          <a:xfrm>
            <a:off x="812800" y="3102608"/>
            <a:ext cx="5232400"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Follow roads, freehand, or Area: click around a zone and the shape closes back to its start.</a:t>
            </a:r>
            <a:endParaRPr lang="en-US" sz="1600" dirty="0"/>
          </a:p>
        </p:txBody>
      </p:sp>
      <p:sp>
        <p:nvSpPr>
          <p:cNvPr id="4" name="Text 2"/>
          <p:cNvSpPr/>
          <p:nvPr/>
        </p:nvSpPr>
        <p:spPr>
          <a:xfrm>
            <a:off x="812800" y="3895092"/>
            <a:ext cx="5232400"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Everything inside is built. A 0.36 km² zone at Massy gives 742 roads and 96 junctions in about 30 s.</a:t>
            </a:r>
            <a:endParaRPr lang="en-US" sz="1600" dirty="0"/>
          </a:p>
        </p:txBody>
      </p:sp>
      <p:sp>
        <p:nvSpPr>
          <p:cNvPr id="5" name="Shape 3"/>
          <p:cNvSpPr/>
          <p:nvPr/>
        </p:nvSpPr>
        <p:spPr>
          <a:xfrm>
            <a:off x="6299200" y="1809750"/>
            <a:ext cx="4978400" cy="3238500"/>
          </a:xfrm>
          <a:prstGeom prst="roundRect">
            <a:avLst>
              <a:gd name="adj" fmla="val 3137"/>
            </a:avLst>
          </a:prstGeom>
          <a:solidFill>
            <a:srgbClr val="FFFFFF"/>
          </a:solidFill>
          <a:ln/>
        </p:spPr>
      </p:sp>
      <p:pic>
        <p:nvPicPr>
          <p:cNvPr id="6" name="Image 0" descr="The page in Area mode: a five-point zone around the Massy stations">    </p:cNvPr>
          <p:cNvPicPr>
            <a:picLocks noChangeAspect="1"/>
          </p:cNvPicPr>
          <p:nvPr/>
        </p:nvPicPr>
        <p:blipFill>
          <a:blip r:embed="rId1"/>
          <a:stretch>
            <a:fillRect/>
          </a:stretch>
        </p:blipFill>
        <p:spPr>
          <a:xfrm>
            <a:off x="6299200" y="1981708"/>
            <a:ext cx="4978400" cy="28945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741171"/>
            <a:ext cx="5232400" cy="107696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F4F2EC"/>
                </a:solidFill>
                <a:latin typeface="Space Grotesk" pitchFamily="34" charset="0"/>
                <a:ea typeface="Space Grotesk" pitchFamily="34" charset="-122"/>
                <a:cs typeface="Space Grotesk" pitchFamily="34" charset="-120"/>
              </a:rPr>
              <a:t>Fast, and kind to the PC</a:t>
            </a:r>
            <a:endParaRPr lang="en-US" sz="3600" dirty="0"/>
          </a:p>
        </p:txBody>
      </p:sp>
      <p:sp>
        <p:nvSpPr>
          <p:cNvPr id="3" name="Text 1"/>
          <p:cNvSpPr/>
          <p:nvPr/>
        </p:nvSpPr>
        <p:spPr>
          <a:xfrm>
            <a:off x="812800" y="2995929"/>
            <a:ext cx="52324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29B5E"/>
                </a:solidFill>
                <a:latin typeface="Space Grotesk" pitchFamily="34" charset="0"/>
                <a:ea typeface="Space Grotesk" pitchFamily="34" charset="-122"/>
                <a:cs typeface="Space Grotesk" pitchFamily="34" charset="-120"/>
              </a:rPr>
              <a:t>29 → 9 min</a:t>
            </a:r>
            <a:endParaRPr lang="en-US" sz="4800" dirty="0"/>
          </a:p>
        </p:txBody>
      </p:sp>
      <p:sp>
        <p:nvSpPr>
          <p:cNvPr id="4" name="Text 2"/>
          <p:cNvSpPr/>
          <p:nvPr/>
        </p:nvSpPr>
        <p:spPr>
          <a:xfrm>
            <a:off x="812800" y="3808729"/>
            <a:ext cx="523240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D5DCE8"/>
                </a:solidFill>
                <a:latin typeface="IBM Plex Sans" pitchFamily="34" charset="0"/>
                <a:ea typeface="IBM Plex Sans" pitchFamily="34" charset="-122"/>
                <a:cs typeface="IBM Plex Sans" pitchFamily="34" charset="-120"/>
              </a:rPr>
              <a:t>for a new 56 km route: parallel downloads, one thread per core, RoadRunner in the background.</a:t>
            </a:r>
            <a:endParaRPr lang="en-US" sz="1500" dirty="0"/>
          </a:p>
        </p:txBody>
      </p:sp>
      <p:sp>
        <p:nvSpPr>
          <p:cNvPr id="5" name="Text 3"/>
          <p:cNvSpPr/>
          <p:nvPr/>
        </p:nvSpPr>
        <p:spPr>
          <a:xfrm>
            <a:off x="812800" y="4564379"/>
            <a:ext cx="523240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D5DCE8"/>
                </a:solidFill>
                <a:latin typeface="IBM Plex Sans" pitchFamily="34" charset="0"/>
                <a:ea typeface="IBM Plex Sans" pitchFamily="34" charset="-122"/>
                <a:cs typeface="IBM Plex Sans" pitchFamily="34" charset="-120"/>
              </a:rPr>
              <a:t>Above 80% RAM in use on the PC, new work waits, so CARLA and Autoware keep running.</a:t>
            </a:r>
            <a:endParaRPr lang="en-US" sz="1500" dirty="0"/>
          </a:p>
        </p:txBody>
      </p:sp>
      <p:sp>
        <p:nvSpPr>
          <p:cNvPr id="6" name="Shape 4"/>
          <p:cNvSpPr/>
          <p:nvPr/>
        </p:nvSpPr>
        <p:spPr>
          <a:xfrm>
            <a:off x="7569200" y="1016000"/>
            <a:ext cx="2540000" cy="4826000"/>
          </a:xfrm>
          <a:prstGeom prst="roundRect">
            <a:avLst>
              <a:gd name="adj" fmla="val 4000"/>
            </a:avLst>
          </a:prstGeom>
          <a:solidFill>
            <a:srgbClr val="F4F2EC"/>
          </a:solidFill>
          <a:ln/>
        </p:spPr>
      </p:sp>
      <p:pic>
        <p:nvPicPr>
          <p:cNvPr id="7" name="Image 0" descr="The progress panel: one bar per step, times and the PC's RAM">    </p:cNvPr>
          <p:cNvPicPr>
            <a:picLocks noChangeAspect="1"/>
          </p:cNvPicPr>
          <p:nvPr/>
        </p:nvPicPr>
        <p:blipFill>
          <a:blip r:embed="rId1"/>
          <a:stretch>
            <a:fillRect/>
          </a:stretch>
        </p:blipFill>
        <p:spPr>
          <a:xfrm>
            <a:off x="7716874" y="1016000"/>
            <a:ext cx="2244651" cy="482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14213D"/>
                </a:solidFill>
                <a:latin typeface="Space Grotesk" pitchFamily="34" charset="0"/>
                <a:ea typeface="Space Grotesk" pitchFamily="34" charset="-122"/>
                <a:cs typeface="Space Grotesk" pitchFamily="34" charset="-120"/>
              </a:rPr>
              <a:t>Where it stands</a:t>
            </a:r>
            <a:endParaRPr lang="en-US" sz="3600" dirty="0"/>
          </a:p>
        </p:txBody>
      </p:sp>
      <p:sp>
        <p:nvSpPr>
          <p:cNvPr id="3" name="Text 1"/>
          <p:cNvSpPr/>
          <p:nvPr/>
        </p:nvSpPr>
        <p:spPr>
          <a:xfrm>
            <a:off x="812800" y="1643379"/>
            <a:ext cx="52847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C4500B"/>
                </a:solidFill>
                <a:latin typeface="Space Grotesk" pitchFamily="34" charset="0"/>
                <a:ea typeface="Space Grotesk" pitchFamily="34" charset="-122"/>
                <a:cs typeface="Space Grotesk" pitchFamily="34" charset="-120"/>
              </a:rPr>
              <a:t>Checked</a:t>
            </a:r>
            <a:endParaRPr lang="en-US" sz="2000" dirty="0"/>
          </a:p>
        </p:txBody>
      </p:sp>
      <p:sp>
        <p:nvSpPr>
          <p:cNvPr id="4" name="Text 2"/>
          <p:cNvSpPr/>
          <p:nvPr/>
        </p:nvSpPr>
        <p:spPr>
          <a:xfrm>
            <a:off x="812800" y="2075179"/>
            <a:ext cx="5284724" cy="1181100"/>
          </a:xfrm>
          <a:prstGeom prst="rect">
            <a:avLst/>
          </a:prstGeom>
          <a:noFill/>
          <a:ln/>
        </p:spPr>
        <p:txBody>
          <a:bodyPr wrap="square" lIns="0" tIns="0" rIns="0" bIns="0" rtlCol="0" anchor="t">
            <a:normAutofit/>
          </a:bodyPr>
          <a:lstStyle/>
          <a:p>
            <a:pPr algn="l" marL="22860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Road heights and links, ours and RoadRunner's</a:t>
            </a:r>
            <a:endParaRPr lang="en-US" sz="1500" dirty="0"/>
          </a:p>
          <a:p>
            <a:pPr algn="l" marL="22860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Lanelet2 routing every 10 m</a:t>
            </a:r>
            <a:endParaRPr lang="en-US" sz="1500" dirty="0"/>
          </a:p>
          <a:p>
            <a:pPr algn="l" marL="22860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No overlapping road surfaces</a:t>
            </a:r>
            <a:endParaRPr lang="en-US" sz="1500" dirty="0"/>
          </a:p>
          <a:p>
            <a:pPr algn="l" marL="22860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Same result with 1 thread or 20</a:t>
            </a:r>
            <a:endParaRPr lang="en-US" sz="1500" dirty="0"/>
          </a:p>
        </p:txBody>
      </p:sp>
      <p:sp>
        <p:nvSpPr>
          <p:cNvPr id="5" name="Text 3"/>
          <p:cNvSpPr/>
          <p:nvPr/>
        </p:nvSpPr>
        <p:spPr>
          <a:xfrm>
            <a:off x="6248400" y="1643379"/>
            <a:ext cx="52847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C4500B"/>
                </a:solidFill>
                <a:latin typeface="Space Grotesk" pitchFamily="34" charset="0"/>
                <a:ea typeface="Space Grotesk" pitchFamily="34" charset="-122"/>
                <a:cs typeface="Space Grotesk" pitchFamily="34" charset="-120"/>
              </a:rPr>
              <a:t>Next</a:t>
            </a:r>
            <a:endParaRPr lang="en-US" sz="2000" dirty="0"/>
          </a:p>
        </p:txBody>
      </p:sp>
      <p:sp>
        <p:nvSpPr>
          <p:cNvPr id="6" name="Text 4"/>
          <p:cNvSpPr/>
          <p:nvPr/>
        </p:nvSpPr>
        <p:spPr>
          <a:xfrm>
            <a:off x="6248400" y="2075179"/>
            <a:ext cx="5284724" cy="892175"/>
          </a:xfrm>
          <a:prstGeom prst="rect">
            <a:avLst/>
          </a:prstGeom>
          <a:noFill/>
          <a:ln/>
        </p:spPr>
        <p:txBody>
          <a:bodyPr wrap="square" lIns="0" tIns="0" rIns="0" bIns="0" rtlCol="0" anchor="t">
            <a:normAutofit/>
          </a:bodyPr>
          <a:lstStyle/>
          <a:p>
            <a:pPr algn="l" marL="22860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Run make import in CARLA on a full route</a:t>
            </a:r>
            <a:endParaRPr lang="en-US" sz="1500" dirty="0"/>
          </a:p>
          <a:p>
            <a:pPr algn="l" marL="22860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Semantic tags for the segmentation camera</a:t>
            </a:r>
            <a:endParaRPr lang="en-US" sz="1500" dirty="0"/>
          </a:p>
          <a:p>
            <a:pPr algn="l" marL="22860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Drive Autoware on the Lanelet2 map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duplicat_env</dc:title>
  <dc:subject>PptxGenJS Presentation</dc:subject>
  <dc:creator>PptxGenJS</dc:creator>
  <cp:lastModifiedBy>PptxGenJS</cp:lastModifiedBy>
  <cp:revision>1</cp:revision>
  <dcterms:created xsi:type="dcterms:W3CDTF">2026-09-24T18:17:09Z</dcterms:created>
  <dcterms:modified xsi:type="dcterms:W3CDTF">2026-09-24T18:17:09Z</dcterms:modified>
</cp:coreProperties>
</file>